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  <p:sldMasterId id="2147483694" r:id="rId2"/>
    <p:sldMasterId id="2147483682" r:id="rId3"/>
    <p:sldMasterId id="2147483670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76" r:id="rId14"/>
    <p:sldId id="266" r:id="rId15"/>
    <p:sldId id="277" r:id="rId16"/>
    <p:sldId id="267" r:id="rId17"/>
    <p:sldId id="273" r:id="rId18"/>
    <p:sldId id="274" r:id="rId19"/>
    <p:sldId id="275" r:id="rId20"/>
    <p:sldId id="278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677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83A4-FCD5-473C-D44C-37CDB2FB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36941-9081-A7CC-EC9A-EFEEDEA74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419DF-06CE-883A-A2E8-EC24D34A4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083C-442F-514D-4EE3-F72F0BEC8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51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D154-D38A-45F9-952B-5A1A3FC3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C3300-5695-6073-DB5C-908FD8305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4EE72-1394-8CBA-2250-678BA9DED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4CEC1-3A33-4924-6A1B-B3A9435BB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56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F613-C4FE-61FA-B4B7-F901010DD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8639D-73CA-7DFD-8695-9C1DE16C4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926C5-45D8-6B92-2171-711F2813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988A5-EEB3-AFC4-D613-EDCA529F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17D76-18A4-8761-9CD5-6A9DB2E9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356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F908-9FCA-3CF3-FCC0-43C21F09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F0A8-FF20-A2C4-9395-B3B652DD6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FABFF-B556-C9E7-CA88-70C1827F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ED4F9-72FA-5A39-F962-D889F80B7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EED3-EE73-AC1B-5968-F6CFC120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4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54BEF-E481-4824-FE8A-ADD3B84C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06E2F-D1EC-7BF3-18E9-EB3BCC0C7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5EECE-CE00-65EB-B466-280C1BC1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955BF-ACE8-5491-79F4-47465DE7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11E78-DE8B-F137-67C6-1497D227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718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C0893-A8C9-0CCA-4AEF-B8F6F8C50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44D28-279E-B5FF-7B22-ED2D32141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240E2-5512-C423-2AB0-1B9F077FA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811D8-9681-7A86-1847-536F1983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01BF6-3D92-35C9-B800-3156C954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DD211-2707-C1C2-9729-06568CC0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266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B663-112F-2E97-0D11-7E9566C6B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E2397-EE81-AF12-3F43-AB10C6C25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416AA-066D-FF49-660D-466B659F9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4DA4D-B2E4-4CDD-0C1D-AF0C4D99C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4A959-E56A-62BC-3EEB-F242E956E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CF964-5558-3E9E-311F-FC7EA94A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35371-2B8E-9A70-D5EF-F6FE6645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1BB3B-5E2A-E931-26AF-E83CE241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13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5896-1120-0867-87A0-2C20C09D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FEEB4-AFA1-5DA2-14B9-82614657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36FEE-596D-0FB5-5D0A-AF56EECE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99F86-33CE-5421-445B-945BAA48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1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3EDEF-C417-BA17-0D17-F5977214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64A3D-061C-171B-B8FD-19D68058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EB705-1E03-D274-BF32-05DBEA6C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56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5444-2EBD-75DE-19D6-616A68B19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29E1-7DF8-7968-48E0-65680C55E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9C9E9-39D5-CB31-3F10-F1BF22EBF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95598-0BC9-5253-75B8-F2B901B2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49BD9-4443-DADD-28F3-6C47B30C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4D4A5-3B94-3DED-ABD3-D90824D9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43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3828-AEA8-4AAA-109B-E071946D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BB2DB-2735-3C02-68FF-B7BD2AADF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98D70-B6B2-E459-7F32-4AA97EEEC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B31AD-E8BA-662F-A5DB-4C7877618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FD92A-3B9B-701F-FB4C-0FDA80F1E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5CB80-9C4D-C192-8383-3EFF8597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70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0DFB-118E-BE69-6D94-B2DA1B43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22985-DD74-9BB9-BD29-DF5B6BAB7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595F0-C30E-9D4E-79B4-41B826AB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B8E0-57A2-7799-7894-956D8D93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F67E1-DA16-D8CE-4F3C-F71C202B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166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C0B68-58B5-9F7B-A507-4C9F23691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59021-4C41-DD82-9E47-80353F81B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A6A32-0E89-E31A-24E8-D970F959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E5C2D-195A-05AA-F276-E7D5A460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AD241-DF44-80BF-CF34-4E4F3E40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6BF-95DC-4393-A8E0-722FC6C9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464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A1C6-D917-F0EE-E26F-FA51AAA9A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DB266-6392-F774-A3FF-5255D8A8F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62F29-7016-511A-8145-2695A8AB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FCB9E-8670-D37A-ED27-96C239E8C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D0F50-60A4-9899-B0B6-5EFEEB8B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723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DB14-4986-CEAB-29A0-15F8E4CD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A5EE-D35C-B41B-A1B0-13AC43890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43B89-C027-FE7F-081F-ACB88422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7BCC1-2FFA-D3A2-3B35-4260B5D9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E69B0-9403-3B32-B2A5-FA9EBE68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003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9A26-0A7A-030E-4FE6-EF4FE76DA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3D90C-6558-9524-C325-D837467EE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4A564-134E-2E76-09F7-7C4D54F2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17DC-015C-7591-DFCF-3A0EC1BE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419C1-637D-4261-8A23-467E2B91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958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13F7-2A71-FD2C-4272-969AE138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2DCD-67B7-E7FA-5D36-2304CDE2C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FA3CD-EEEA-8E9B-256F-104AE54A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21A6D-C24A-B5FA-D25F-650B6867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42AB4-BB71-D133-2EA3-9F4B05A1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FDCF9-7685-34CF-3BF1-322CBBC9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898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32C3-DA4B-6740-520B-E2915009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1270A-3AE5-BE21-6184-F036130DC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C653C-4B71-61A3-8D5C-4BEF6D16B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D864D-29E8-D7BE-C1C1-A06AE3552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512DA6-B041-D54A-34BF-8CF57A06D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DB4E4F-981F-DD1B-9D47-4F3F2764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96871-4509-60D8-2EB7-2A70B0F6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45EBD-99EE-7300-3506-76DD7DA4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463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28D7-8B94-97B5-9CB9-1306A3FA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9E8A16-5E11-78B7-78DE-ED4574A8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6A280-F92A-647E-38C7-871B063A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C865D-F830-32AF-9A86-61536221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497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D49E6-28D5-FFD0-0256-B63B1105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7BCF3-0E0D-64F8-4E03-26DD43D8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43C95-0D34-8CD6-EB7A-AEF8B053A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233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85F0-A3DB-F0AE-05D9-38E2D71C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6F9C7-CE2D-F3B7-C20B-D82860BB6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100A9-2B06-5C6F-3784-BA2CEDFB9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EB0A0-3AF0-3DB2-B1F4-74BD78FB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C1E06-39CD-F798-6819-19DCC900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85B20-B5F5-5619-1BE6-46C56352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285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9E2B-26EC-1FDE-A8F2-8CAC59A8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62AA9-96D2-CC5B-80F4-5F8F86F48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6AE25-F2DB-8732-BBB5-DCAA54471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17AFE-CFBC-7027-7B65-33CEAA24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5C9E8-1E75-DFDA-2575-97FB8179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58AC7-0D94-8F4E-ED32-1C7A2530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964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71CA-D476-D113-1DAC-653B4D76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4059C-5BD1-EF2A-CEC1-916D90244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34B9-5C20-DBBA-2E18-4B2263B2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73BB5-4F83-CA31-7F98-C566756B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B0F8C-C1E2-BDAD-0FF2-CACBB3DA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69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78AEB-DF86-E901-E820-7EBE3AB1D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8CE0E-8E97-0903-4BEF-1F27A7D52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3EEF-AD00-9D56-0EDB-C4368799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FED2-8E97-ED95-1D17-456624FF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F9F22-0D87-6557-BD12-C1D2B655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738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558D-61B5-2443-AD27-FA2BB120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1FED7-5E3E-EF17-E1BD-1DE94B826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08534-CD62-D927-F18A-64B696A0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DA0BB-9E64-018C-EAB5-CFD9A5EC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41C76-DEE3-E5E6-92B3-DC10BC11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12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A512-FDB4-6F2C-285D-C37E5B3F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81B2-37E3-5E76-1865-DF43BC940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4B03D-0837-15FB-50DE-AA7C2595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F4EF-1A15-26FF-A95A-1EDF176A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F8247-BCE9-A9EA-30F5-18D04E29C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482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54EB-0724-17DA-E8B8-5CAB6BECA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71E78-3D13-EB91-0669-2882EE338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47E4C-1039-0CEB-EA88-F3498EED6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59C4F-7505-9C42-EBAB-D1C09411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682E5-1A01-33EE-EC00-0F1DDC00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91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C6B9-8079-9FEE-8493-9FCBB70F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593A9-82B7-E0B9-6343-83EEEC30D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1FA41-E45E-7197-19DE-D8C7C5C15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499B-C4FE-808F-EC32-2AA0F608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97277-2102-C295-BD3D-883E248C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DD6D-6D04-9FFC-E9E8-FE92914E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780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8035D-A1F8-CC0B-1DBC-AF222017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164BE-7949-4E1B-BCB7-D8AFCA7F2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9E05A-7E6B-39AC-D02D-74056E5B0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80004-C2E3-0B46-A3BD-FB072B9DC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1FB7A-FD5E-565E-0B98-AB386A9D2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0BE96-D017-D941-6D46-50D1C888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0A60D-B482-0973-9D2C-0AFDA22F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9C369-FDCD-BD39-6C22-5ACD9DA8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302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F5E8-CCA4-10E6-235C-1829580B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B65AFB-607C-860F-5847-102090C8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3A9AC-F701-B77F-5852-6C52355B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5BE54-12A8-0ED4-9A2B-444C3965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017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5ECA5-3FF0-9B5B-63F5-D09E0821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B0855-9F41-BC82-B132-8BD2CDB5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ECAE1-0FF5-179C-89D6-56972BBC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35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86FA-B168-3D78-5DEA-06384A21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451D0-1864-679D-9CC0-86E91C9B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C702D-2D9D-1631-1555-1DDA4F3BA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CE953-DA07-D653-D6DA-0A1CA8E2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497CF-45D8-AC06-2E7D-DA93EB34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60373-019A-C187-5781-D90272EF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291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EAE0-90C4-CE4D-53C4-E0AA0924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454369-7E4C-4694-A2DA-70F021234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668B5-CDB2-4375-2BC7-6ED44F1E3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288B2-6E55-67E2-8643-9C1B86387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EC1A8-D599-CC27-F927-66798813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49EF1-01B7-5927-2A56-9D229444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315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86D9-108E-9C49-8BB7-0689779E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0F1DE-B743-A309-B231-FA8EF3A7D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0479-CB49-DB41-42D0-884CA73AD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F5291-4701-C72F-4EEC-359F13B2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BA5BE-168E-9562-7E71-EC5AE7D4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936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BC620-2EDC-580E-981A-7AAA2F28A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73B82-2B1D-EA9D-B139-C985ED727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998A-CC19-2495-7784-887AAD44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4E7F7-82BC-1997-F9B7-77EF8D0C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3716E-5CC7-6919-C3EC-E5BEFE97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654DF5-FCAA-A2E7-FF86-BC2057E6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E9DAF-5F03-69F4-B351-89D3AB226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0A347-8920-BC1A-8247-4FC8CFC4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A199B-0D0E-422F-BBE8-ADC59507D45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5611A-1DAA-B6BE-C762-F10A2C139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8D52B-5537-DE60-13E1-A2A1A0BC3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F66BF-95DC-4393-A8E0-722FC6C9FA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19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DFF05-CF6A-8B88-4E47-BCF08D034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2CDF7-52D5-3F61-6CFA-A0891A472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56FD4-AEA4-9BFF-1ED3-C0360AE55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53AB7-DDEC-F146-8B66-A2D44C040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83336-68EA-4745-0487-B8E8F0D2E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C8882-1105-41B9-96EF-89BABB030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7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494CB5-7644-8BF2-F1EC-E3F1569B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70A4C-02B3-2F9E-23A3-A89AD0F7F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F8A39-4606-6032-F7C0-5888B8C49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A46DC-11F6-9313-617B-50B729FB1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C13B2-A5FB-ADEC-AF4A-5F9F19C6C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0A1DD-6A20-4CAB-A52C-B8B9DE839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85792" y="1434536"/>
            <a:ext cx="525053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Đồ</a:t>
            </a: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275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Án</a:t>
            </a: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3: </a:t>
            </a:r>
            <a:r>
              <a:rPr lang="en-US" sz="275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Thiết</a:t>
            </a: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Kế Website Quản Lý Nông Sản và Chuỗi Cung Ứng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181030" y="2901989"/>
            <a:ext cx="5128406" cy="1043658"/>
          </a:xfrm>
          <a:prstGeom prst="roundRect">
            <a:avLst>
              <a:gd name="adj" fmla="val 318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185792" y="2906751"/>
            <a:ext cx="2375669" cy="1043657"/>
          </a:xfrm>
          <a:prstGeom prst="roundRect">
            <a:avLst>
              <a:gd name="adj" fmla="val 5705"/>
            </a:avLst>
          </a:prstGeom>
          <a:solidFill>
            <a:srgbClr val="FCE2CF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327551" y="30485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Sinh viên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327551" y="3355021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Nguyễn Duy Thuấn  Lớp 12523W.1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542411" y="2906751"/>
            <a:ext cx="2767025" cy="1043657"/>
          </a:xfrm>
          <a:prstGeom prst="rect">
            <a:avLst/>
          </a:prstGeom>
          <a:solidFill>
            <a:srgbClr val="FCE2CF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542411" y="2906751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84170" y="30485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Giảng viên hướng dẫn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84170" y="3355021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ThS. Nguyễn Hoàng Điệp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185792" y="3950407"/>
            <a:ext cx="5123644" cy="45719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256654" y="2561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TRƯỜNG ĐẠI HỌC SƯ PHẠM KỸ THUẬT HƯNG YÊN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25799" y="62624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KHOA CÔNG NGHỆ THÔNG TIN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C5286C-AF6F-0822-5C02-183581356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54" y="366896"/>
            <a:ext cx="1125300" cy="1156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27646"/>
            <a:ext cx="1442219" cy="266402"/>
          </a:xfrm>
          <a:prstGeom prst="roundRect">
            <a:avLst>
              <a:gd name="adj" fmla="val 17880"/>
            </a:avLst>
          </a:prstGeom>
          <a:solidFill>
            <a:srgbClr val="FCE2C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1174" y="970136"/>
            <a:ext cx="12721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NỘI DUNG TRÌNH BÀY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25075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Mục Lục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90633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Anton Light" pitchFamily="34" charset="-122"/>
                <a:cs typeface="Arial" panose="020B0604020202020204" pitchFamily="34" charset="0"/>
              </a:rPr>
              <a:t>01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6119" y="2128242"/>
            <a:ext cx="2622724" cy="1905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22371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Tổng quan đề tài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6119" y="254369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Lý do chọn, mục tiêu, phạm vi và phương pháp tiếp cận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0601" y="190633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Anton Light" pitchFamily="34" charset="-122"/>
                <a:cs typeface="Arial" panose="020B0604020202020204" pitchFamily="34" charset="0"/>
              </a:rPr>
              <a:t>02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60601" y="2128242"/>
            <a:ext cx="2622724" cy="1905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60601" y="22371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Cơ sở lý thuyết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60601" y="254369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Quy trình phát triển phần mềm, công nghệ sử dụng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25083" y="190633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Anton Light" pitchFamily="34" charset="-122"/>
                <a:cs typeface="Arial" panose="020B0604020202020204" pitchFamily="34" charset="0"/>
              </a:rPr>
              <a:t>03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25083" y="2128242"/>
            <a:ext cx="2622724" cy="1905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25083" y="2237184"/>
            <a:ext cx="21371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Phân tích và Thiết kế hệ thống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25083" y="254369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Đặc tả yêu cầu, biểu đồ UML, thiết kế giao diện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6119" y="324534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Anton Light" pitchFamily="34" charset="-122"/>
                <a:cs typeface="Arial" panose="020B0604020202020204" pitchFamily="34" charset="0"/>
              </a:rPr>
              <a:t>04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6119" y="3467249"/>
            <a:ext cx="4004965" cy="1905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6119" y="35761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Triển khai và Kiểm thử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6119" y="388270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Xây dựng Frontend, Backend, kiểm thử và triển khai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42842" y="324534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Anton Light" pitchFamily="34" charset="-122"/>
                <a:cs typeface="Arial" panose="020B0604020202020204" pitchFamily="34" charset="0"/>
              </a:rPr>
              <a:t>05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42842" y="3467249"/>
            <a:ext cx="4004965" cy="1905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42842" y="3576191"/>
            <a:ext cx="20113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Kết luận và Hướng phát triển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42842" y="388270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Kết quả đạt được, hạn chế và định hướng tương lai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B5009F-5550-C8B9-9CC3-A3E87E6CA026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93725"/>
            <a:ext cx="666229" cy="222349"/>
          </a:xfrm>
          <a:prstGeom prst="roundRect">
            <a:avLst>
              <a:gd name="adj" fmla="val 18076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717" y="434355"/>
            <a:ext cx="513234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D2600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CHƯƠNG 1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46446" y="318008"/>
            <a:ext cx="29904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Tổng Quan Đề Tài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37" y="139043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Vấn đề đặt ra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96137" y="2056798"/>
            <a:ext cx="3108173" cy="88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Chuỗi cung ứng nông sản Việt Nam hiện còn nhiều bất cập: quản lý </a:t>
            </a:r>
            <a:r>
              <a:rPr lang="en-US" sz="1400" b="1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thủ công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, thiếu đồng bộ và minh bạch, dẫn đến thất thoát, khó kiểm soát chất lượng và nguồn gốc sản phẩm.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436673" y="169807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Giải pháp đề xuất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36673" y="2056798"/>
            <a:ext cx="3108172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Thiết kế website quản lý nông sản và chuỗi cung ứng nhằm </a:t>
            </a:r>
            <a:r>
              <a:rPr lang="en-US" sz="1400" b="1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tự động hóa quy trình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, tăng tính minh bạch và hỗ trợ chuyển đổi số trong nông nghiệp.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66522-839C-586F-4069-E711BBD57EC3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365820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Mục Tiêu Của Đề Tài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863132" y="981075"/>
            <a:ext cx="5140191" cy="898029"/>
          </a:xfrm>
          <a:prstGeom prst="roundRect">
            <a:avLst>
              <a:gd name="adj" fmla="val 580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91868" y="1109811"/>
            <a:ext cx="155056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- </a:t>
            </a:r>
            <a:r>
              <a:rPr lang="en-US" sz="1600" dirty="0" err="1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Kiến</a:t>
            </a: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trúc hệ thống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91867" y="1378297"/>
            <a:ext cx="501145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Microservices với 4 service độc lập: Admin, NôngDân, ĐạiLý, SiêuThị. Gateway API điều phối toàn bộ.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63132" y="1987600"/>
            <a:ext cx="5140191" cy="898029"/>
          </a:xfrm>
          <a:prstGeom prst="roundRect">
            <a:avLst>
              <a:gd name="adj" fmla="val 580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91868" y="2116336"/>
            <a:ext cx="155056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- </a:t>
            </a:r>
            <a:r>
              <a:rPr lang="en-US" sz="1600" dirty="0" err="1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Chức</a:t>
            </a: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năng nghiệp vụ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91868" y="2384822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Quản lý trang trại, lô nông sản, kho hàng, đơn hàng, vận chuyển và kiểm định chất lượng.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63132" y="2994124"/>
            <a:ext cx="5140191" cy="711994"/>
          </a:xfrm>
          <a:prstGeom prst="roundRect">
            <a:avLst>
              <a:gd name="adj" fmla="val 731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991868" y="3122861"/>
            <a:ext cx="155056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- </a:t>
            </a:r>
            <a:r>
              <a:rPr lang="en-US" sz="1600" dirty="0" err="1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Truy</a:t>
            </a: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xuất nguồn gốc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91868" y="3391346"/>
            <a:ext cx="45892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Mã QR cho từng lô nông sản, theo dõi hành trình từ trang trại đến siêu thị.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63132" y="3814614"/>
            <a:ext cx="5140191" cy="898029"/>
          </a:xfrm>
          <a:prstGeom prst="roundRect">
            <a:avLst>
              <a:gd name="adj" fmla="val 580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991868" y="3943350"/>
            <a:ext cx="160838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- Bảo mật &amp; phân quyền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991868" y="4211836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JWT authentication, phân quyền theo 4 vai trò, validation toàn diện dữ liệu đầu vào.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BEE99-C3B5-20B9-5973-91A321D463B1}"/>
              </a:ext>
            </a:extLst>
          </p:cNvPr>
          <p:cNvSpPr txBox="1"/>
          <p:nvPr/>
        </p:nvSpPr>
        <p:spPr>
          <a:xfrm>
            <a:off x="8724867" y="4821139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2736"/>
            <a:ext cx="81141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5936" y="629989"/>
            <a:ext cx="6317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CHƯƠNG 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915367"/>
            <a:ext cx="52557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Cơ Sở Lý Thuyết &amp; Công Nghệ Sử Dụng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2183023"/>
            <a:ext cx="20946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Frontend — React + TypeScript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335738" y="31223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Backend — ASP.NET Core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802562" y="4048034"/>
            <a:ext cx="18424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Cơ sở dữ liệu — SQL Server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D91C0-3231-720F-214E-1FF44A5714F8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45120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Luồng Chuỗi Cung Ứng Nông Sản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492" y="1902191"/>
            <a:ext cx="407583" cy="4075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636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Người tiêu dùng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7357" y="1902956"/>
            <a:ext cx="407583" cy="4075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6456" y="3390124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Siêu thị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5603" y="1902956"/>
            <a:ext cx="407583" cy="4075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64702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Đại lý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5697" y="1902956"/>
            <a:ext cx="407583" cy="40758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74034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Nông dân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Hệ thống số hóa toàn bộ hành trình nông sản từ trang trại đến tay người tiêu dùng, đảm bảo tính minh bạch và khả năng truy xuất tại mọi khâu.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68BC7-E6C6-1123-D6A7-BBF89F77663A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35900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Chức Năng Phía Nông Dân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Quản lý Trang trại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Tạo, cập nhật, xóa thông tin trang trại. 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Quản lý Sản phẩm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Danh mục sản phẩm nông nghiệp với tên, đơn vị tính, mô tả. 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Quản lý Lô nông sản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Tạo lô với số lượng, ngày thu hoạch, hạn sử dụng. 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Quản lý Đơn hàng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Nhận và xác nhận đơn từ đại lý, theo dõi trạng thái giao dịch và lịch sử bán hàng.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AF231-90BE-763A-AB48-A0FF5F04B8EE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Chức Năng Phía Đại Lý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103981"/>
            <a:ext cx="153211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Vai trò trung tâm của Đại lý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709889" y="1630994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Đại lý là mắt xích quan trọng nhất trong chuỗi cung ứng, thực hiện </a:t>
            </a:r>
            <a:r>
              <a:rPr lang="en-US" sz="1400" b="1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5 nhóm chức năng nghiệp vụ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chính: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14503" y="2630984"/>
            <a:ext cx="3759622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Thu mua từ nhiều nông dân khác nhau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Kiểm định chất lượng tại điểm nhập hàng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Quản lý </a:t>
            </a:r>
            <a:r>
              <a:rPr lang="en-US" sz="14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kho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hàng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Tổ chức vận chuyển và theo dõi lộ trình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Phân phối cho siêu thị với đơn bán tự động sinh phiếu vận chuyển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7BA20-7D1F-4459-8B83-8E6F4AF461AA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660" y="859531"/>
            <a:ext cx="45921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Chức Năng Phía </a:t>
            </a:r>
            <a:r>
              <a:rPr lang="en-US" sz="275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Siêu</a:t>
            </a: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Thị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0393" y="1676811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Đặt hàng từ đại lý, theo dõi trạng thái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Quản lý kho hàng và tồn kho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Xác nhận hoặc từ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chối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nhận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hàng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Truy xuất nguồn gốc qua mã QR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E7D6F-337E-40BD-D7B6-F62738515440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90B1-26D8-C7CF-A6A0-1BBAB3C5D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921A3E-48EF-892A-0947-A2685F224F8C}"/>
              </a:ext>
            </a:extLst>
          </p:cNvPr>
          <p:cNvSpPr/>
          <p:nvPr/>
        </p:nvSpPr>
        <p:spPr>
          <a:xfrm>
            <a:off x="496119" y="441089"/>
            <a:ext cx="45921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Chức Năng </a:t>
            </a:r>
            <a:r>
              <a:rPr lang="en-US" sz="275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Phía</a:t>
            </a: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Admin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4D059D-0829-B120-C2A6-6BA7D85692EF}"/>
              </a:ext>
            </a:extLst>
          </p:cNvPr>
          <p:cNvSpPr/>
          <p:nvPr/>
        </p:nvSpPr>
        <p:spPr>
          <a:xfrm>
            <a:off x="939280" y="12429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Admin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D9E5B8-2CD4-403E-B483-80D9C40DEF06}"/>
              </a:ext>
            </a:extLst>
          </p:cNvPr>
          <p:cNvSpPr/>
          <p:nvPr/>
        </p:nvSpPr>
        <p:spPr>
          <a:xfrm>
            <a:off x="1051821" y="1625716"/>
            <a:ext cx="7234049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Quản lý toàn bộ tài khoản (tạo, khóa/mở, đổi mật khẩu)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Phân quyền theo vai trò: Nông dân, Đại lý, Siêu thị, Admin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Thống</a:t>
            </a: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kê </a:t>
            </a:r>
            <a:r>
              <a:rPr lang="en-US" sz="16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tổng</a:t>
            </a:r>
            <a:r>
              <a:rPr lang="en-US" sz="16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hợp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F7222-8029-E558-099C-1ABED9533780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58086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798" y="196095"/>
            <a:ext cx="3392971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Biểu</a:t>
            </a:r>
            <a:r>
              <a:rPr lang="en-US" sz="21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đồ</a:t>
            </a:r>
            <a:r>
              <a:rPr lang="en-US" sz="21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Use Case </a:t>
            </a:r>
            <a:r>
              <a:rPr lang="en-US" sz="210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tổng</a:t>
            </a:r>
            <a:r>
              <a:rPr lang="en-US" sz="21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quát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1">
            <a:extLst>
              <a:ext uri="{FF2B5EF4-FFF2-40B4-BE49-F238E27FC236}">
                <a16:creationId xmlns:a16="http://schemas.microsoft.com/office/drawing/2014/main" id="{411F6A75-553D-C442-2960-B2DB079DE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19313"/>
            <a:ext cx="9144000" cy="44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9F2B7D-7D30-7A05-7D50-7FF69964EDA8}"/>
              </a:ext>
            </a:extLst>
          </p:cNvPr>
          <p:cNvSpPr txBox="1"/>
          <p:nvPr/>
        </p:nvSpPr>
        <p:spPr>
          <a:xfrm>
            <a:off x="8724866" y="4823862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A8E1-E914-E0F3-1384-12696A3B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4911C7-2D25-85E9-9473-5CE06F322EC8}"/>
              </a:ext>
            </a:extLst>
          </p:cNvPr>
          <p:cNvSpPr/>
          <p:nvPr/>
        </p:nvSpPr>
        <p:spPr>
          <a:xfrm>
            <a:off x="299798" y="97621"/>
            <a:ext cx="3392971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Biểu</a:t>
            </a:r>
            <a:r>
              <a:rPr lang="en-US" sz="21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đồ</a:t>
            </a:r>
            <a:r>
              <a:rPr lang="en-US" sz="21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lớp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16C15E0F-9E75-EB1A-4573-9F1985741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81" y="497755"/>
            <a:ext cx="8278837" cy="46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71AC15-1F86-E1CB-AC04-AB0E15112878}"/>
              </a:ext>
            </a:extLst>
          </p:cNvPr>
          <p:cNvSpPr txBox="1"/>
          <p:nvPr/>
        </p:nvSpPr>
        <p:spPr>
          <a:xfrm>
            <a:off x="8795518" y="4823862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5086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9154" y="2039479"/>
            <a:ext cx="51162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Thiết Kế Giao </a:t>
            </a:r>
            <a:r>
              <a:rPr lang="en-US" sz="2750" dirty="0" err="1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Diện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1A2BC-F48E-4716-BBB2-69CC67BBC3CA}"/>
              </a:ext>
            </a:extLst>
          </p:cNvPr>
          <p:cNvSpPr txBox="1"/>
          <p:nvPr/>
        </p:nvSpPr>
        <p:spPr>
          <a:xfrm>
            <a:off x="8647807" y="4707286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133"/>
            <a:ext cx="44513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Kiểm Thử &amp; Triển Khai Ứng Dụng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357238"/>
            <a:ext cx="4004965" cy="1511647"/>
          </a:xfrm>
          <a:prstGeom prst="roundRect">
            <a:avLst>
              <a:gd name="adj" fmla="val 6049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338188"/>
            <a:ext cx="4004965" cy="76200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5963" y="1144637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13508" y="125097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6927" y="17115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Kiểm thử chức năng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6927" y="2018109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Đăng nhập/đăng ký theo vai trò, CRUD sản phẩm, đơn hàng vượt tồn kho báo lỗi, transaction rollback khi lỗi.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42842" y="1357238"/>
            <a:ext cx="4005039" cy="1511647"/>
          </a:xfrm>
          <a:prstGeom prst="roundRect">
            <a:avLst>
              <a:gd name="adj" fmla="val 6049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42842" y="1338188"/>
            <a:ext cx="4005039" cy="76200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32686" y="1144637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60232" y="125097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3651" y="17115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Đóng gói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3651" y="2018109"/>
            <a:ext cx="3683422" cy="689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Frontend: Vite build → thư mục </a:t>
            </a:r>
            <a:r>
              <a:rPr lang="en-US" sz="1400" dirty="0">
                <a:solidFill>
                  <a:srgbClr val="2B2E3C"/>
                </a:solidFill>
                <a:highlight>
                  <a:srgbClr val="F2EBE3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minify, code splitting. Backend: </a:t>
            </a:r>
            <a:r>
              <a:rPr lang="en-US" sz="1400" dirty="0">
                <a:solidFill>
                  <a:srgbClr val="2B2E3C"/>
                </a:solidFill>
                <a:highlight>
                  <a:srgbClr val="F2EBE3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dotnet publish -c Release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, cấu hình JWT &amp; CORS.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6119" y="3223245"/>
            <a:ext cx="4004965" cy="1502122"/>
          </a:xfrm>
          <a:prstGeom prst="roundRect">
            <a:avLst>
              <a:gd name="adj" fmla="val 6087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119" y="3204195"/>
            <a:ext cx="4004965" cy="76200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85963" y="3010644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13508" y="311698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6927" y="35776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Yêu cầu hệ thống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6927" y="3884116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Server: 4 cores, 8GB RAM, 100GB SSD. Runtime: .NET 8.0, SQL Server 2019+. Client: Chrome/Firefox/Edge 90+.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42842" y="3223245"/>
            <a:ext cx="4005039" cy="1502122"/>
          </a:xfrm>
          <a:prstGeom prst="roundRect">
            <a:avLst>
              <a:gd name="adj" fmla="val 6087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42842" y="3204195"/>
            <a:ext cx="4005039" cy="76200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32686" y="3010644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60232" y="311698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4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03651" y="35776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Triển khai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03651" y="388411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IIS 10+ hoặc Nginx trên Windows Server / Ubuntu 20.04+. EF Core Migrations tự động apply schema.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B493F4-6D1C-B9A7-78B4-E7E4E11F4258}"/>
              </a:ext>
            </a:extLst>
          </p:cNvPr>
          <p:cNvSpPr txBox="1"/>
          <p:nvPr/>
        </p:nvSpPr>
        <p:spPr>
          <a:xfrm>
            <a:off x="8724867" y="4823862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8379" y="414412"/>
            <a:ext cx="736625" cy="260821"/>
          </a:xfrm>
          <a:prstGeom prst="roundRect">
            <a:avLst>
              <a:gd name="adj" fmla="val 17978"/>
            </a:avLst>
          </a:prstGeom>
          <a:solidFill>
            <a:srgbClr val="FCE2C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2095" y="456233"/>
            <a:ext cx="56919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KẾT LUẬN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88379" y="730151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Kết Quả Đạt Được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8379" y="1509638"/>
            <a:ext cx="1744340" cy="232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✅</a:t>
            </a:r>
            <a:r>
              <a:rPr lang="en-US" b="1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Về sản phẩm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8379" y="1879327"/>
            <a:ext cx="2198936" cy="2801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Hệ thống hoàn chỉnh với </a:t>
            </a:r>
            <a:r>
              <a:rPr lang="en-US" sz="1400" b="1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24 trang chức năng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cho 4 vai trò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Đầy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đủ quy trình chuỗi cung ứng: trang trại → đại lý → </a:t>
            </a:r>
            <a:r>
              <a:rPr lang="en-US" sz="14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siêu</a:t>
            </a: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32447" y="1509638"/>
            <a:ext cx="1744340" cy="232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✅</a:t>
            </a:r>
            <a:r>
              <a:rPr lang="en-US" b="1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Về kiến thức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32447" y="1879327"/>
            <a:ext cx="2198936" cy="258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Kiến trúc Microservices, RESTful API, JWT authentication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React Hooks, state management, TypeScript type-safe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Database design, EF Core, SQL Server transactions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086B9E-605C-8046-5E6F-23440E238D08}"/>
              </a:ext>
            </a:extLst>
          </p:cNvPr>
          <p:cNvSpPr txBox="1"/>
          <p:nvPr/>
        </p:nvSpPr>
        <p:spPr>
          <a:xfrm>
            <a:off x="8724867" y="4823862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372070"/>
            <a:ext cx="1297186" cy="259407"/>
          </a:xfrm>
          <a:prstGeom prst="roundRect">
            <a:avLst>
              <a:gd name="adj" fmla="val 17502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701" y="417314"/>
            <a:ext cx="1125587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HƯỚNG PHÁT TRIỂN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2901" y="682972"/>
            <a:ext cx="431147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Hạn Chế &amp; Định Hướng Tương Lai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2901" y="1298451"/>
            <a:ext cx="4034730" cy="1215628"/>
          </a:xfrm>
          <a:prstGeom prst="roundRect">
            <a:avLst>
              <a:gd name="adj" fmla="val 4668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725" y="1438275"/>
            <a:ext cx="1688976" cy="22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Thanh toán &amp; Mobile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725" y="1740917"/>
            <a:ext cx="37550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Tích hợp VNPay/MoMo. Xây dựng mobile app với React Native hoặc Flutter cho nông dân ít tiếp cận máy tính.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36368" y="1298451"/>
            <a:ext cx="4034730" cy="1215628"/>
          </a:xfrm>
          <a:prstGeom prst="roundRect">
            <a:avLst>
              <a:gd name="adj" fmla="val 4668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76192" y="1438275"/>
            <a:ext cx="1688976" cy="22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Blockchain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76192" y="1740917"/>
            <a:ext cx="375508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Áp dụng Hyperledger Fabric để lưu trữ dữ liệu truy xuất nguồn gốc, đảm bảo tính bất biến và minh bạch tuyệt đối.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2901" y="2642815"/>
            <a:ext cx="4034730" cy="1215628"/>
          </a:xfrm>
          <a:prstGeom prst="roundRect">
            <a:avLst>
              <a:gd name="adj" fmla="val 4668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2725" y="2782639"/>
            <a:ext cx="1688976" cy="22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 AI/ML &amp; IoT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725" y="3085281"/>
            <a:ext cx="375508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Dự báo nhu cầu thị trường, đề xuất giá tối ưu. Tích hợp cảm biến IoT theo dõi điều kiện bảo quản khi vận chuyển.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36368" y="2642815"/>
            <a:ext cx="4034730" cy="1215628"/>
          </a:xfrm>
          <a:prstGeom prst="roundRect">
            <a:avLst>
              <a:gd name="adj" fmla="val 4668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76192" y="2782639"/>
            <a:ext cx="1688976" cy="22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Arial" panose="020B0604020202020204" pitchFamily="34" charset="0"/>
                <a:ea typeface="Anton" pitchFamily="34" charset="-122"/>
                <a:cs typeface="Arial" panose="020B0604020202020204" pitchFamily="34" charset="0"/>
              </a:rPr>
              <a:t>Hiệu suất &amp; Bảo mật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76192" y="3085281"/>
            <a:ext cx="375508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Redis caching, lazy loading, query optimization. Two-factor authentication, rate limiting và security audit định kỳ.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2901" y="4003328"/>
            <a:ext cx="8198197" cy="768028"/>
          </a:xfrm>
          <a:prstGeom prst="roundRect">
            <a:avLst>
              <a:gd name="adj" fmla="val 7389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3" y="4206255"/>
            <a:ext cx="168846" cy="1350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1870" y="4165774"/>
            <a:ext cx="762416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Đề tài đặt nền tảng vững chắc cho chuyển đổi số trong nông nghiệp Việt Nam, với tiềm năng mở rộng thành nền tảng thương mại nông sản quy mô lớn.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F567C5-D64D-48F4-6583-1A5987070168}"/>
              </a:ext>
            </a:extLst>
          </p:cNvPr>
          <p:cNvSpPr txBox="1"/>
          <p:nvPr/>
        </p:nvSpPr>
        <p:spPr>
          <a:xfrm>
            <a:off x="8724867" y="4823862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6C23FA-51E4-9C76-4414-1523BE0AB197}"/>
              </a:ext>
            </a:extLst>
          </p:cNvPr>
          <p:cNvSpPr txBox="1"/>
          <p:nvPr/>
        </p:nvSpPr>
        <p:spPr>
          <a:xfrm>
            <a:off x="934850" y="1570155"/>
            <a:ext cx="72742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Thank you for listening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58CAA-993D-B9FF-6F91-70949A2BC11A}"/>
              </a:ext>
            </a:extLst>
          </p:cNvPr>
          <p:cNvSpPr txBox="1"/>
          <p:nvPr/>
        </p:nvSpPr>
        <p:spPr>
          <a:xfrm>
            <a:off x="8647807" y="4685363"/>
            <a:ext cx="41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8696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1058</Words>
  <Application>Microsoft Office PowerPoint</Application>
  <PresentationFormat>On-screen Show (16:9)</PresentationFormat>
  <Paragraphs>146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 Display</vt:lpstr>
      <vt:lpstr>Arial</vt:lpstr>
      <vt:lpstr>Aptos</vt:lpstr>
      <vt:lpstr>Office Theme</vt:lpstr>
      <vt:lpstr>2_Custom Design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Thuấn Nguyễn Duy</cp:lastModifiedBy>
  <cp:revision>45</cp:revision>
  <dcterms:created xsi:type="dcterms:W3CDTF">2026-05-13T07:15:44Z</dcterms:created>
  <dcterms:modified xsi:type="dcterms:W3CDTF">2026-05-13T08:21:55Z</dcterms:modified>
</cp:coreProperties>
</file>